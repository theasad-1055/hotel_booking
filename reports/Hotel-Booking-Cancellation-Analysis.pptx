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Sora Medium"/>
      <p:regular r:id="rId201317"/>
    </p:embeddedFont>
    <p:embeddedFont>
      <p:font typeface="Sora"/>
      <p:regular r:id="rId201318"/>
    </p:embeddedFont>
    <p:embeddedFont>
      <p:font typeface="So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443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Hotel Booking Cancellation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090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data-driven investigation into the factors driving reservation cancellations — and how hotels can recover lost revenue.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426545"/>
            <a:ext cx="2638061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79" y="4483199"/>
            <a:ext cx="302083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PREPARED BY: MOHAMMAD ASAD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87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Business Problem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62906"/>
            <a:ext cx="5476043" cy="4406205"/>
          </a:xfrm>
          <a:prstGeom prst="roundRect">
            <a:avLst>
              <a:gd name="adj" fmla="val 643"/>
            </a:avLst>
          </a:prstGeom>
          <a:solidFill>
            <a:srgbClr val="120336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85191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336205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and resort hotels are experiencing persistently high booking cancellation rates, directly reducing revenue and room utilization. Understanding the root causes is essential to reversing this trend.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85191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Objectives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3616" y="2369245"/>
            <a:ext cx="283461" cy="283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7024" y="2359819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key variables influencing reservation cancellations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3352105"/>
            <a:ext cx="283461" cy="2834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3342680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 data-driven recommendations for pricing and operations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3616" y="4334966"/>
            <a:ext cx="283461" cy="283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7024" y="4325541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marketing and channel strategy decisions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3616" y="5289451"/>
            <a:ext cx="283461" cy="2834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7024" y="5280025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 occupancy and overall revenue generation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424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Assumptions &amp; Research Questions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126258"/>
            <a:ext cx="5888287" cy="3312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207" y="1587599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Core Assumptions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87207" y="1975148"/>
            <a:ext cx="3549264" cy="2044998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major external events between 2015–2017 skew the dataset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Cancelled rooms remain vacant for the booked period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Booking cancellations are a primary driver of revenue loss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Hotels are not currently applying the proposed solutions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87207" y="4156670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Research Questions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87207" y="4544219"/>
            <a:ext cx="3549264" cy="1521817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variables most strongly predict reservation cancellations?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can hotels reduce cancellation rates operationally?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can pricing and promotional strategies be improved?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744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Hypotheses &amp; Expected Recommendations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15245"/>
            <a:ext cx="5357778" cy="12528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779" y="2304355"/>
            <a:ext cx="49033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Price Sensitivity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26779" y="2661841"/>
            <a:ext cx="49033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room rates correlate with increased cancellation probability as guests seek cheaper alternatives.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343" y="2115245"/>
            <a:ext cx="5357877" cy="1252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7648" y="2304355"/>
            <a:ext cx="490346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Lead Time Effect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437648" y="2661841"/>
            <a:ext cx="490346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Longer booking windows and waiting lists increase the likelihood of guests changing plans.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21174"/>
            <a:ext cx="5357778" cy="12528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779" y="3710285"/>
            <a:ext cx="49033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Channel Concentration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26779" y="4067770"/>
            <a:ext cx="49033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travel agents contribute a large share of bookings, introducing higher cancellation risk.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343" y="3521174"/>
            <a:ext cx="5357877" cy="12528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37648" y="3710285"/>
            <a:ext cx="490346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Revenue Recovery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437648" y="4067770"/>
            <a:ext cx="490346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these factors enables targeted interventions to improve occupancy and revenue.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61475" y="4946253"/>
            <a:ext cx="10868745" cy="634305"/>
          </a:xfrm>
          <a:prstGeom prst="roundRect">
            <a:avLst>
              <a:gd name="adj" fmla="val 4023"/>
            </a:avLst>
          </a:prstGeom>
          <a:solidFill>
            <a:srgbClr val="00288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" y="5164435"/>
            <a:ext cx="212620" cy="1700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14209" y="5141813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Expected Actions: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Dynamic pricing, flexible cancellation policies, loyalty programs, and agent performance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85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Booking Trends: City vs. Resort Hotels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6724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following visualizations compare booking volumes and cancellation patterns across city and resort hotel segments, revealing distinct behavioral differences that inform targeted strategy.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25" y="3206353"/>
            <a:ext cx="4635186" cy="217368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117" y="3206353"/>
            <a:ext cx="5993754" cy="21736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78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Cancellation Rate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10012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visualization breaks down cancellation rates by key booking attributes, highlighting which guest segments and reservation types carry the highest risk of cancellation.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2314575"/>
            <a:ext cx="6903269" cy="31029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118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Booking Channel &amp; Agent Performance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96901"/>
            <a:ext cx="10868745" cy="42137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91299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travel agents dominate booking volume but also carry elevated cancellation rates. Shifting mix toward direct bookings and loyalty channels can reduce exposure to third-party volatility.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896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Seasonal Cancellation Patterns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2172593"/>
            <a:ext cx="6565736" cy="3329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7270" y="1906588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Seasonal Insight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17270" y="2357636"/>
            <a:ext cx="3519201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Cancellations peak sharply in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January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likely driven by post-holiday budget adjustments and travel plan revisions. This window represents the highest-risk period for revenue loss.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017270" y="3949998"/>
            <a:ext cx="3519201" cy="1797149"/>
          </a:xfrm>
          <a:prstGeom prst="roundRect">
            <a:avLst>
              <a:gd name="adj" fmla="val 1499"/>
            </a:avLst>
          </a:prstGeom>
          <a:solidFill>
            <a:srgbClr val="0028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752" y="4217888"/>
            <a:ext cx="224427" cy="179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00661" y="4148336"/>
            <a:ext cx="2756327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January campaigns with targeted discounts or flexible rebooking options can convert at-risk reservations into confirmed stays.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09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Additional Analytical Findings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550" y="2701230"/>
            <a:ext cx="4345871" cy="16066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627" y="2701230"/>
            <a:ext cx="6213518" cy="16066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464214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additional visualizations further validate the relationship between pricing, lead time, and cancellation probability — reinforcing the case for dynamic, data-informed revenue management strategies.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1584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Strategic Recommendations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61475" y="1318419"/>
            <a:ext cx="6296860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822106" y="1479054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Dynamic Pricing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106" y="1811933"/>
            <a:ext cx="59755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Lower rates in high-cancellation periods and locations. Offer weekend and holiday discounts, especially at resort hotels.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584549"/>
            <a:ext cx="6296860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822106" y="2745184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January Campaign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106" y="3078063"/>
            <a:ext cx="59755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targeted promotions in January — the highest-cancellation month — with incentives to lock in bookings early.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850680"/>
            <a:ext cx="6296860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822106" y="4011315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Service Quality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106" y="4344194"/>
            <a:ext cx="59755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 in hotel quality and guest experience, particularly in Portugal, to reduce cancellations driven by dissatisfaction.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5116810"/>
            <a:ext cx="6296860" cy="1129605"/>
          </a:xfrm>
          <a:prstGeom prst="roundRect">
            <a:avLst>
              <a:gd name="adj" fmla="val 2133"/>
            </a:avLst>
          </a:prstGeom>
          <a:solidFill>
            <a:srgbClr val="26262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106" y="5277445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Loyalty Programs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2106" y="5610324"/>
            <a:ext cx="597559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Strengthen direct booking channels through loyalty incentives, reducing reliance on high-cancellation offline agents.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2026-08-14T19:44:57Z</dcterms:created>
  <dcterms:modified xsi:type="dcterms:W3CDTF">2026-08-14T19:44:57Z</dcterms:modified>
</cp:coreProperties>
</file>